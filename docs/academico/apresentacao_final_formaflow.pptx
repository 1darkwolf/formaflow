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3b07c08c9045ae" /><Relationship Type="http://schemas.openxmlformats.org/officeDocument/2006/relationships/extended-properties" Target="/docProps/app.xml" Id="Rc57c020dd2cf4fa6" /><Relationship Type="http://schemas.openxmlformats.org/officeDocument/2006/relationships/officeDocument" Target="/ppt/presentation.xml" Id="R4244677fb69245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d1aa97378b47a1"/>
  </p:sldMasterIdLst>
  <p:notesMasterIdLst>
    <p:notesMasterId xmlns:r="http://schemas.openxmlformats.org/officeDocument/2006/relationships" r:id="Ra1f80cfd3be74e23"/>
  </p:notesMasterIdLst>
  <p:sldIdLst>
    <p:sldId xmlns:r="http://schemas.openxmlformats.org/officeDocument/2006/relationships" id="256" r:id="R645f3fcdcee84148"/>
    <p:sldId xmlns:r="http://schemas.openxmlformats.org/officeDocument/2006/relationships" id="257" r:id="R827cfba5916a4eae"/>
    <p:sldId xmlns:r="http://schemas.openxmlformats.org/officeDocument/2006/relationships" id="258" r:id="R9eaa4f94610e4a02"/>
    <p:sldId xmlns:r="http://schemas.openxmlformats.org/officeDocument/2006/relationships" id="259" r:id="R8be7926b72284c7e"/>
    <p:sldId xmlns:r="http://schemas.openxmlformats.org/officeDocument/2006/relationships" id="260" r:id="R14024828f025426e"/>
    <p:sldId xmlns:r="http://schemas.openxmlformats.org/officeDocument/2006/relationships" id="261" r:id="R1f80dd07205746fc"/>
    <p:sldId xmlns:r="http://schemas.openxmlformats.org/officeDocument/2006/relationships" id="262" r:id="R76ae441fda294d50"/>
    <p:sldId xmlns:r="http://schemas.openxmlformats.org/officeDocument/2006/relationships" id="263" r:id="Rc0d4d74864984468"/>
    <p:sldId xmlns:r="http://schemas.openxmlformats.org/officeDocument/2006/relationships" id="264" r:id="R9b7be0655fba463c"/>
    <p:sldId xmlns:r="http://schemas.openxmlformats.org/officeDocument/2006/relationships" id="265" r:id="R848cb6f04fd849ea"/>
    <p:sldId xmlns:r="http://schemas.openxmlformats.org/officeDocument/2006/relationships" id="266" r:id="R9fd63b072cc74d86"/>
    <p:sldId xmlns:r="http://schemas.openxmlformats.org/officeDocument/2006/relationships" id="267" r:id="Re496e280035c4c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75e91c16145e7" /><Relationship Type="http://schemas.openxmlformats.org/officeDocument/2006/relationships/slideMaster" Target="/ppt/slideMasters/slideMaster1.xml" Id="R07d1aa97378b47a1" /><Relationship Type="http://schemas.openxmlformats.org/officeDocument/2006/relationships/notesMaster" Target="/ppt/notesMasters/notesMaster1.xml" Id="Ra1f80cfd3be74e23" /><Relationship Type="http://schemas.openxmlformats.org/officeDocument/2006/relationships/presProps" Target="/ppt/presProps.xml" Id="Re369129b1d4445cc" /><Relationship Type="http://schemas.openxmlformats.org/officeDocument/2006/relationships/tableStyles" Target="/ppt/tableStyles.xml" Id="R8e7bdd693a514087" /><Relationship Type="http://schemas.openxmlformats.org/officeDocument/2006/relationships/slide" Target="/ppt/slides/slide1.xml" Id="R645f3fcdcee84148" /><Relationship Type="http://schemas.openxmlformats.org/officeDocument/2006/relationships/slide" Target="/ppt/slides/slide2.xml" Id="R827cfba5916a4eae" /><Relationship Type="http://schemas.openxmlformats.org/officeDocument/2006/relationships/slide" Target="/ppt/slides/slide3.xml" Id="R9eaa4f94610e4a02" /><Relationship Type="http://schemas.openxmlformats.org/officeDocument/2006/relationships/slide" Target="/ppt/slides/slide4.xml" Id="R8be7926b72284c7e" /><Relationship Type="http://schemas.openxmlformats.org/officeDocument/2006/relationships/slide" Target="/ppt/slides/slide5.xml" Id="R14024828f025426e" /><Relationship Type="http://schemas.openxmlformats.org/officeDocument/2006/relationships/slide" Target="/ppt/slides/slide6.xml" Id="R1f80dd07205746fc" /><Relationship Type="http://schemas.openxmlformats.org/officeDocument/2006/relationships/slide" Target="/ppt/slides/slide7.xml" Id="R76ae441fda294d50" /><Relationship Type="http://schemas.openxmlformats.org/officeDocument/2006/relationships/slide" Target="/ppt/slides/slide8.xml" Id="Rc0d4d74864984468" /><Relationship Type="http://schemas.openxmlformats.org/officeDocument/2006/relationships/slide" Target="/ppt/slides/slide9.xml" Id="R9b7be0655fba463c" /><Relationship Type="http://schemas.openxmlformats.org/officeDocument/2006/relationships/slide" Target="/ppt/slides/slide10.xml" Id="R848cb6f04fd849ea" /><Relationship Type="http://schemas.openxmlformats.org/officeDocument/2006/relationships/slide" Target="/ppt/slides/slide11.xml" Id="R9fd63b072cc74d86" /><Relationship Type="http://schemas.openxmlformats.org/officeDocument/2006/relationships/slide" Target="/ppt/slides/slide12.xml" Id="Re496e280035c4c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7b1861592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fcc8f45505491c" /><Relationship Type="http://schemas.openxmlformats.org/officeDocument/2006/relationships/notesMaster" Target="/ppt/notesMasters/notesMaster1.xml" Id="Rabb830a557af47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9463e4063146f7" /><Relationship Type="http://schemas.openxmlformats.org/officeDocument/2006/relationships/notesMaster" Target="/ppt/notesMasters/notesMaster1.xml" Id="R46a84f2118fd49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3ab51ee7440eb" /><Relationship Type="http://schemas.openxmlformats.org/officeDocument/2006/relationships/notesMaster" Target="/ppt/notesMasters/notesMaster1.xml" Id="R0bd06159b8e8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aa8a0b74a4c6b" /><Relationship Type="http://schemas.openxmlformats.org/officeDocument/2006/relationships/notesMaster" Target="/ppt/notesMasters/notesMaster1.xml" Id="R6845db87184542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67eada13640cc" /><Relationship Type="http://schemas.openxmlformats.org/officeDocument/2006/relationships/notesMaster" Target="/ppt/notesMasters/notesMaster1.xml" Id="R227966c5a34c45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fd93eb7e8e4efe" /><Relationship Type="http://schemas.openxmlformats.org/officeDocument/2006/relationships/notesMaster" Target="/ppt/notesMasters/notesMaster1.xml" Id="R7bd0f3666612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ad2500209448c3" /><Relationship Type="http://schemas.openxmlformats.org/officeDocument/2006/relationships/notesMaster" Target="/ppt/notesMasters/notesMaster1.xml" Id="R1e680aad0f4a46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8fe153fb024f89" /><Relationship Type="http://schemas.openxmlformats.org/officeDocument/2006/relationships/notesMaster" Target="/ppt/notesMasters/notesMaster1.xml" Id="R9dca09b2767f4d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3b5438cfc44990" /><Relationship Type="http://schemas.openxmlformats.org/officeDocument/2006/relationships/notesMaster" Target="/ppt/notesMasters/notesMaster1.xml" Id="Rbedfa5bd0eb149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e4864bc9fa4c2c" /><Relationship Type="http://schemas.openxmlformats.org/officeDocument/2006/relationships/notesMaster" Target="/ppt/notesMasters/notesMaster1.xml" Id="R68a71389820249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118b8098af4018" /><Relationship Type="http://schemas.openxmlformats.org/officeDocument/2006/relationships/notesMaster" Target="/ppt/notesMasters/notesMaster1.xml" Id="Rd4ab0e6c80bf46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a9aa8f9d164a4b" /><Relationship Type="http://schemas.openxmlformats.org/officeDocument/2006/relationships/notesMaster" Target="/ppt/notesMasters/notesMaster1.xml" Id="R3820c8298bc4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FormaFlow como uma solução já implementada e validada. Explicar em uma frase que a aplicação acompanha todo o ciclo de vida de uma candidatura.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docs/planeamento/01-visao-e-ambito.md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Começar pela dor concreta. Depois mostrar que o FormaFlow não tenta substituir a plataforma oficial; organiza o acompanhamento interno e mantém evidência do que aconteceu.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informação_projeto.docx</a:t>
            </a:r>
          </a:p>
          <a:p xmlns:a="http://schemas.openxmlformats.org/drawingml/2006/main">
            <a:r>
              <a:t>- docs/planeamento/01-visao-e-ambito.md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a separação de responsabilidades. A autorização é aplicada nas vistas, nos formulários, nas consultas e nos ficheiros privados.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accounts/</a:t>
            </a:r>
          </a:p>
          <a:p xmlns:a="http://schemas.openxmlformats.org/drawingml/2006/main">
            <a:r>
              <a:t>- docs/planeamento/02-requisitos-e-casos-de-uso.md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este fluxo com o diagrama fornecido. Destacar que o sistema também cobre devoluções, indeferimentos, pedidos de elementos e correções administrativas.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Diagrama_fase_generica.png</a:t>
            </a:r>
          </a:p>
          <a:p xmlns:a="http://schemas.openxmlformats.org/drawingml/2006/main">
            <a:r>
              <a:t>- workflow/state_machine.py</a:t>
            </a:r>
          </a:p>
          <a:p xmlns:a="http://schemas.openxmlformats.org/drawingml/2006/main">
            <a:r>
              <a:t>- docs/planeamento/03-regras-de-negocio-e-workflow.md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opção por um monólito modular: mais simples de compreender, testar e instalar, mantendo responsabilidades separadas por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</a:t>
            </a:r>
          </a:p>
          <a:p xmlns:a="http://schemas.openxmlformats.org/drawingml/2006/main">
            <a:r>
              <a:t>- docker-compose.yml</a:t>
            </a:r>
          </a:p>
          <a:p xmlns:a="http://schemas.openxmlformats.org/drawingml/2006/main">
            <a:r>
              <a:t>- docs/planeamento/05-arquitetura-e-organizacao-django.md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o primeiro modelo de seis entidades foi um ponto de partida. O modelo final cresceu para representar o domínio real e inclui uma tabela técnica para tentativas de autenticação.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Migrações Django no repositório</a:t>
            </a:r>
          </a:p>
          <a:p xmlns:a="http://schemas.openxmlformats.org/drawingml/2006/main">
            <a:r>
              <a:t>- docs/planeamento/04-modelo-de-dados-e-dicionario.md</a:t>
            </a:r>
          </a:p>
          <a:p xmlns:a="http://schemas.openxmlformats.org/drawingml/2006/main">
            <a:r>
              <a:t>- diagrama de classes.pdf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estas áreas não são maquetes: estão ligadas a rotas, modelos, permissões, serviços e testes no projeto Django.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candidaturas/</a:t>
            </a:r>
          </a:p>
          <a:p xmlns:a="http://schemas.openxmlformats.org/drawingml/2006/main">
            <a:r>
              <a:t>- documentos/</a:t>
            </a:r>
          </a:p>
          <a:p xmlns:a="http://schemas.openxmlformats.org/drawingml/2006/main">
            <a:r>
              <a:t>- workflow/</a:t>
            </a:r>
          </a:p>
          <a:p xmlns:a="http://schemas.openxmlformats.org/drawingml/2006/main">
            <a:r>
              <a:t>- notificacoes/</a:t>
            </a:r>
          </a:p>
          <a:p xmlns:a="http://schemas.openxmlformats.org/drawingml/2006/main">
            <a:r>
              <a:t>- pagamentos/</a:t>
            </a:r>
          </a:p>
          <a:p xmlns:a="http://schemas.openxmlformats.org/drawingml/2006/main">
            <a:r>
              <a:t>- regras/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exemplos curtos: um candidato não pode descarregar documentos de outro processo; uma transição inválida é rejeitada; um alerta repetido não gera duplicados.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accounts/security.py</a:t>
            </a:r>
          </a:p>
          <a:p xmlns:a="http://schemas.openxmlformats.org/drawingml/2006/main">
            <a:r>
              <a:t>- documentos/views.py</a:t>
            </a:r>
          </a:p>
          <a:p xmlns:a="http://schemas.openxmlformats.org/drawingml/2006/main">
            <a:r>
              <a:t>- workflow/services.py</a:t>
            </a:r>
          </a:p>
          <a:p xmlns:a="http://schemas.openxmlformats.org/drawingml/2006/main">
            <a:r>
              <a:t>- docs/operacao/relatorio-validacao.md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Escolher um dos três cenários de acordo com o tempo disponível. O primeiro demonstra o caminho principal; o segundo evidencia controlo documental; o terceiro fecha o ciclo financeiro.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docs/operacao/demo-e-evidencias.md</a:t>
            </a:r>
          </a:p>
          <a:p xmlns:a="http://schemas.openxmlformats.org/drawingml/2006/main">
            <a:r>
              <a:t>- workflow/urls.py</a:t>
            </a:r>
          </a:p>
          <a:p xmlns:a="http://schemas.openxmlformats.org/drawingml/2006/main">
            <a:r>
              <a:t>- documentos/urls.py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diapositivo apresenta apenas resultados efetivamente verificados. Referir que os testes cobrem regras, permissões, workflow, documentos, tarefas e operação.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docs/operacao/relatorio-validacao.md</a:t>
            </a:r>
          </a:p>
          <a:p xmlns:a="http://schemas.openxmlformats.org/drawingml/2006/main">
            <a:r>
              <a:t>- GitHub Actions — execução 33799372629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este guião para controlar o tempo. Evitar navegar por todas as páginas; demonstrar um percurso coerente e reservar tempo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docs/operacao/demo-e-evidencias.md</a:t>
            </a:r>
          </a:p>
          <a:p xmlns:a="http://schemas.openxmlformats.org/drawingml/2006/main">
            <a:r>
              <a:t>- docs/operacao/manual-utilizador.md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com o resultado alcançado e reconhecer os limites atuais. Reforçar que os próximos passos não diminuem a versão concluída: são oportunidades de evolução.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docs/planeamento/06-plano-de-implementacao.md</a:t>
            </a:r>
          </a:p>
          <a:p xmlns:a="http://schemas.openxmlformats.org/drawingml/2006/main">
            <a:r>
              <a:t>- docs/operacao/relatorio-validacao.md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35485aab94a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3c5d744db24ca4" /><Relationship Type="http://schemas.openxmlformats.org/officeDocument/2006/relationships/slideLayout" Target="/ppt/slideLayouts/slideLayout1.xml" Id="Re83ae9dbe70f4d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3ae9dbe70f4d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b2331967346da" /><Relationship Type="http://schemas.openxmlformats.org/officeDocument/2006/relationships/notesSlide" Target="/ppt/notesSlides/notesSlide1.xml" Id="Rf8ce2827d0354e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6c5037f0c4a6a" /><Relationship Type="http://schemas.openxmlformats.org/officeDocument/2006/relationships/notesSlide" Target="/ppt/notesSlides/notesSlide2.xml" Id="Rc05a60be668d4c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a7989738e42f2" /><Relationship Type="http://schemas.openxmlformats.org/officeDocument/2006/relationships/notesSlide" Target="/ppt/notesSlides/notesSlide3.xml" Id="Ref6d56e9197c40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f48fe29554e2c" /><Relationship Type="http://schemas.openxmlformats.org/officeDocument/2006/relationships/notesSlide" Target="/ppt/notesSlides/notesSlide4.xml" Id="R4384689546dd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3539018044928" /><Relationship Type="http://schemas.openxmlformats.org/officeDocument/2006/relationships/notesSlide" Target="/ppt/notesSlides/notesSlide5.xml" Id="R376cbd1da4d648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7b78e722146ea" /><Relationship Type="http://schemas.openxmlformats.org/officeDocument/2006/relationships/notesSlide" Target="/ppt/notesSlides/notesSlide6.xml" Id="R1e7decb8cb7d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2ffa5b0444790" /><Relationship Type="http://schemas.openxmlformats.org/officeDocument/2006/relationships/notesSlide" Target="/ppt/notesSlides/notesSlide7.xml" Id="Re7c4cd4d511f4a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c368f20f54632" /><Relationship Type="http://schemas.openxmlformats.org/officeDocument/2006/relationships/notesSlide" Target="/ppt/notesSlides/notesSlide8.xml" Id="Re36efc7bd3df40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daf9359494607" /><Relationship Type="http://schemas.openxmlformats.org/officeDocument/2006/relationships/notesSlide" Target="/ppt/notesSlides/notesSlide9.xml" Id="Rced5da2ae3824d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021f416fe4e16" /><Relationship Type="http://schemas.openxmlformats.org/officeDocument/2006/relationships/notesSlide" Target="/ppt/notesSlides/notesSlide10.xml" Id="R064ddce6b04743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57543de49405f" /><Relationship Type="http://schemas.openxmlformats.org/officeDocument/2006/relationships/notesSlide" Target="/ppt/notesSlides/notesSlide11.xml" Id="Rc1d23c92f8854e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ad1763bbf4620" /><Relationship Type="http://schemas.openxmlformats.org/officeDocument/2006/relationships/notesSlide" Target="/ppt/notesSlides/notesSlide12.xml" Id="R0b5116ffe0704c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5E167-469C-41B4-B6B8-750F7E98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525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ECD21-B500-4171-AC8B-14A16FD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66750"/>
            <a:ext cx="3524250" cy="3524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FABCD-5056-4D22-864B-883E279F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C208A-BF4D-408B-9A15-5731287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52600"/>
            <a:ext cx="161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5E233-2294-4856-90CA-90F053EF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143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CE2BC-FE43-47A9-AB9A-8BA32EC8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PROVA DE APTIDÃO PROFISSIONAL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FEBDC-D7A2-4FEF-A0FA-DD416DA5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FORMA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0308-5EAE-4326-91A1-FA6B3D89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de Controlo e Avisos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Cheque-Formação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6F8AF-D87A-47D9-9152-C5277CF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9372E-93B9-42DB-8D2B-839A5E8B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AF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AF8F2"/>
                </a:solidFill>
                <a:latin typeface="Arial"/>
                <a:ea typeface="Arial"/>
                <a:cs typeface="Arial"/>
              </a:rPr>
              <a:t>Salvador da Costa Ferreira  •  2025/2026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C51BB-0DF5-4423-92E5-C0E04E8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5FB"/>
                </a:solidFill>
                <a:latin typeface="Arial"/>
                <a:ea typeface="Arial"/>
                <a:cs typeface="Arial"/>
              </a:rPr>
              <a:t>Python 3.12  ·  Django 5.2  ·  PostgreSQL 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38220-8B20-4BAA-8E31-F79610F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5F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771400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A332B-D7C3-456D-9FAD-2CC6D58F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PROBLEMA E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6BD31-6D46-4AC6-BD12-ED63B64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Do processo disperso ao controlo centralizado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E3084-0761-4828-99F6-B440A50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AFC69-C69E-4CF2-8D90-5F776AD1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AA1EB-97A7-494E-BD52-E003C25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244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107B6-A2EB-443E-896F-A19C44B8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E0C3A-C18C-4701-925A-7C537CD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583E2-6DB3-434E-9DA4-D391E2BF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Dados espalhados por correio, folhas e pastas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Dificuldade em conhecer o estado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Prazos e documentos sujeitos a esquecimentos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Pouca rastreabilidade das decisões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EAE08-9399-42B0-8B83-E4E39598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E5A8D-5647-4B48-AB34-A3870050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51244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1655C-C60C-4325-9480-D986320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1C58C-0D5D-4F67-93AE-5F0BC8DE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Com o FormaFlow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3534A-A8EC-49F3-9F74-08D58D7E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3840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Processo único e organizado por candidatura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Workflow explícito com histórico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Checklist documental e alertas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• Permissões e evidência auditável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32A63-4210-4604-A487-B6BE4509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57875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Objetivo: tornar o acompanhamento simples, seguro e verificável.</a:t>
            </a:r>
          </a:p>
        </p:txBody>
      </p:sp>
    </p:spTree>
    <p:extLst>
      <p:ext uri="{BB962C8B-B14F-4D97-AF65-F5344CB8AC3E}">
        <p14:creationId xmlns:p14="http://schemas.microsoft.com/office/powerpoint/2010/main" val="706605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D51B9-5A83-4E44-9CF2-B9940C5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UTILIZADORES E PERMISSÕES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DB269-7F5B-4F95-A581-E53EBAFE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Quatro perfis, responsabilidades separadas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7204A-68E2-42E9-A95D-D64EC442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E5867-390F-4A7B-AECA-FF893381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B07C9-914D-477F-8540-A77CCB98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9F935-E3DF-4DBB-AC5E-CA03BE4F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113BE-4672-455A-A93F-BFBA86FE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Candidato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78032-9353-4465-91EA-DC61711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924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Consulta o processo, entrega documentos e recebe notificações.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C22E6-C7EC-4642-AAB6-F770E3F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01A8F-FC06-4F70-91C2-816EB17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C4B75-F429-455C-99E2-6128CD09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62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Técnico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AF28C-FE33-4FD0-AF94-3D17A28B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24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Prepara candidaturas, valida dados e acompanha pendências.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38889-5B99-4DB6-8793-A3E764D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54DC8-3582-4B47-8475-94176BB2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D697C-92AC-43A1-BF6A-EAF5F39F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Decisor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BD4C6-65CE-4540-B77E-D6BA2B33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924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Emite pareceres e confirma decisões autorizadas.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B5C76-ACFB-44A0-826F-19AB149B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381250" cy="3143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179A3-2EDE-4973-AE28-FD7BCA08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082FB-2AE1-43D8-A68F-A601955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621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228DC-C396-4023-9623-C4E506A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19240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Gere acessos, parâmetros e correções controladas.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1CA2D-68A7-435E-811D-A15168A5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86375"/>
            <a:ext cx="8724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6933D-C2E3-41AA-BF63-66B60D01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14975"/>
            <a:ext cx="807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Princípio aplicado: cada perfil vê e executa apenas o que precisa.</a:t>
            </a:r>
          </a:p>
        </p:txBody>
      </p:sp>
    </p:spTree>
    <p:extLst>
      <p:ext uri="{BB962C8B-B14F-4D97-AF65-F5344CB8AC3E}">
        <p14:creationId xmlns:p14="http://schemas.microsoft.com/office/powerpoint/2010/main" val="339573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DF8AB-CD29-463A-A87F-BEB2EEA6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FLUXO DE NEGÓCIO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9900D-4C40-46EA-889F-B4D74B4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Um workflow completo em três fases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A98DB-0909-40E4-A27B-A7947DB1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6E437-BBD6-4872-BFC3-B89597F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9F1DE-5638-43EC-AB28-4F3BA0D4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914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2565C-85C6-414D-BA8C-3ED119B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19450"/>
            <a:ext cx="914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F8C2E-B0F5-4A81-BD97-540ADD76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9718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E81E6-AB80-4599-B320-1AC29BDA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40C66-6338-4C5B-BAB4-8980346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1  Submissão e análise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F91D2-87FC-420D-A336-A0B705EB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5146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Candidatura submetida, verificada e analisada até ao parecer final.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C9111-27D4-4FCE-9FD3-44E0F51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32004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26E7A-3A1A-4AE0-AF47-C3353948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088F1-5A97-4DC3-A5F2-694E8A8A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860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2  Termo de aceitação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C1023-56D1-41A5-981F-BE3483E2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7432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Quando favorável, o candidato devolve o termo devidamente assinado.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9792B-C1FB-431F-B88F-146C3644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9718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93F84-DA10-4FD4-8888-51BC5E12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050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D9E66-A89C-4B2A-88C2-FC6B60F0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3  Encerramento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88EE3-B742-4C55-97C2-8DC6231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5146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 formação concluída é analisada, paga e formalmente encerrada.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76187-11F3-4ABF-9433-09579A1E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23 transições controladas  •  guardas de perfil  •  histórico imutável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62746-A4A3-4642-A905-475E16E2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857875"/>
            <a:ext cx="3790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13C3E-108E-4F4D-86BD-342CE97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905500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correção administrativa rastreada</a:t>
            </a:r>
          </a:p>
        </p:txBody>
      </p:sp>
    </p:spTree>
    <p:extLst>
      <p:ext uri="{BB962C8B-B14F-4D97-AF65-F5344CB8AC3E}">
        <p14:creationId xmlns:p14="http://schemas.microsoft.com/office/powerpoint/2010/main" val="2110475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C4F17-C999-4B9C-A7BA-0D99EB12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ARQUITETURA TÉCNICA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EE44B-CA8D-4D5E-9C5E-61498BF9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Arquitetura simples, modular e preparada para operar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E8DEF-B476-4B3F-B351-89100C92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39949-8E64-448A-88A9-1A659F2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D46F4-BE74-48B4-BB50-D7BADD0B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57550"/>
            <a:ext cx="762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B312E-14D3-489C-916A-EFFED83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57550"/>
            <a:ext cx="7620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2FBB-1B97-4CB1-8BB8-9288F8D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838450" cy="300990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27129-0F45-49AC-862F-08F33D6E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76752-78AE-4B78-947A-CC76C75E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Interface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8D962-6AE4-4531-854A-E74F3663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381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Templates Django responsivos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Formulários acessíveis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Painéis por perfil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0E3A4-2143-4B8C-A3B2-52B78171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19300"/>
            <a:ext cx="34671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791B7-EF53-4C67-98E9-75006085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3BB96-E6E7-4ABD-935C-7286798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Monólito modular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283ED-0052-48E7-981A-2A768063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30099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9 aplicações de domínio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Serviços, permissões e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Django 5.2 / Python 3.12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47DE9-568A-4AC6-BB92-965E35C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314325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607B0-BFB8-4F4A-9019-EEEE5A9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46C41-29EA-4EFD-B04A-D2F58418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Dados e operação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9DF72-B7E6-450E-AFF9-ACC4389E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86050"/>
            <a:ext cx="26860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PostgreSQL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Ficheiros privados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Docker, Gunicorn e WhiteNoise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067B6-FCD1-49BD-B633-9FD94AAA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29250"/>
            <a:ext cx="716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58A6A-D895-4551-AFDE-6DE5844C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19750"/>
            <a:ext cx="655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Configuração por ambiente  ·  health check  ·  logs  ·  backups cifrados</a:t>
            </a:r>
          </a:p>
        </p:txBody>
      </p:sp>
    </p:spTree>
    <p:extLst>
      <p:ext uri="{BB962C8B-B14F-4D97-AF65-F5344CB8AC3E}">
        <p14:creationId xmlns:p14="http://schemas.microsoft.com/office/powerpoint/2010/main" val="926858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CB8B38-60AF-493D-B5E7-3FCC38DF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DADOS E DOMÍNIOS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DDB6B-B697-40E0-8AA1-739C2536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 modelo evoluiu com o projeto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EFE98-64FB-49B4-81D9-AF80985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22B7F-E904-4DA7-8F47-8D8E8D79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00061-0AC9-495E-A666-907C233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D0D06-476F-4E07-97B3-6DAE718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58109-95CD-4532-86C1-4E08475C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entidades de negócio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7AE20-CD09-4103-A6C4-716C71AB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2381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8DB26-091F-48FF-9F0A-75485472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194CD-A7CC-4256-83F9-2266A5C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1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tabela técnica de segurança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B506D-8FAC-4A13-A2EE-7604658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90700"/>
            <a:ext cx="2381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69ACC-4439-463D-8430-25695B75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812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21A7C-94CA-4DD0-AE94-AEE0956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81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aplicações de domínio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E2D4D-FC53-45AA-B71C-D825C0FF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3718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990EE-FA80-441A-99BE-CD85ED3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PostgreSQL 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D372D-1293-423F-9F10-06D8CE4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persistência validada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81A0B-302A-4B4F-88DC-90EB4912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5616E-8648-480D-B900-3ED6DEA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385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36DF5-19B0-4D3C-BCA5-4621D6D8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B327C-28A9-4608-B256-6AA2C2D5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385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entidades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06215-CDD7-4718-9CA3-12AE0ED5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CF6F7-C741-44AE-A219-5B8141FF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385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formação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5EF59-8C69-4F10-BD5D-811A8482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2A229-4BC3-4B98-99EA-8D228DD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862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candidaturas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92EC3-69A8-4AEB-8396-1CB995DF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F7CFB-6393-4E36-9615-909481A6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862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documentos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824C8-1FA1-47A5-A3A8-4E64FE53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01627-CBF1-495E-9851-030EBCD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862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286B8-31F1-4BE1-9B66-3354A618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CFE7F-AE99-4F52-8953-F4B2ABB6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339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notificações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A3202F-C63A-49E4-85E8-50C24CBB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963259-F462-4268-AC22-9779AA35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339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881BFD-7333-421B-893E-CAA7153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10150"/>
            <a:ext cx="3048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8E5304-AD0C-4FAC-B7E4-243896D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33975"/>
            <a:ext cx="2781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pagamentos</a:t>
            </a:r>
          </a:p>
        </p:txBody>
      </p:sp>
    </p:spTree>
    <p:extLst>
      <p:ext uri="{BB962C8B-B14F-4D97-AF65-F5344CB8AC3E}">
        <p14:creationId xmlns:p14="http://schemas.microsoft.com/office/powerpoint/2010/main" val="1684976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5434E-6D05-42FA-8B46-68E2BB79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RESULTADO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E2558-F3E5-41D3-8F45-A2C7082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Funcionalidades já implementadas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7D8BA-FB7B-49A4-8D1A-220FE79D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6B2A6-7FB4-4640-9ABD-0C64BB9C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150FD-09B4-4C2E-922B-254499ED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48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18F19-E75B-4441-A3C6-4284DC2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FDA90-4D89-44C6-ACBC-177B28D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Candidaturas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14EDD-87F6-4853-B917-B2DD869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criação, consulta e exportação autorizada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7097C-261B-4AE5-9F14-C30668B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548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E1F40-D4B2-4856-81A5-9E5A817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9F08B-3B08-4B4E-A52F-6A47D0E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Documentos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38A55-B315-4DEE-8EBF-AF3CCACF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checklist, versões, validação e acesso privado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F056C-AF1C-4262-9185-000D61F6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48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134DF-85C6-40FE-B454-B38DBD8D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27AF3-7216-4742-A654-9CC4FA8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7F016-CE1C-47AA-8CFB-A405056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decisões, pareceres, termos e encerramento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6450A-3915-499E-B784-FB49391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5486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DCF5D-B4DB-4996-B169-02637DB0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1A657-FD86-4981-AEAB-BAA6259E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8075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Avisos e prazos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F90E3-6FEC-4506-BDCE-2D76D140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5029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notificações idempotentes e tarefas agendadas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B740C-0711-460E-8093-D4916D43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Também inclui pagamentos, regras versionadas, relatórios operacionais e administração técnica.</a:t>
            </a:r>
          </a:p>
        </p:txBody>
      </p:sp>
    </p:spTree>
    <p:extLst>
      <p:ext uri="{BB962C8B-B14F-4D97-AF65-F5344CB8AC3E}">
        <p14:creationId xmlns:p14="http://schemas.microsoft.com/office/powerpoint/2010/main" val="1379276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CA294-746A-4905-9BA7-6BECF36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CONTROLOS APLICADOS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1D27A-7F9B-4572-B91E-580CAE0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Segurança e fiabilidade por desenho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569F5-F47B-45B8-B691-E0FE91B8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0620B-8ADF-470F-AB07-50798040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58E07-4B3E-4197-8CA7-89C92A7B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48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EC216-705E-4BAF-936B-AB89DBD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EAD11-ABBE-428C-9989-2B21D800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Acesso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9B420-DDCC-45F4-A644-2D9F810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Perfis, sessões seguras e bloqueio de tentativas repetidas.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F93AE-BCA5-49DB-BFCC-39E1630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48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D53A3-04F1-4DE2-9BA4-8B5523BD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0A4DE-E2C3-4FEE-8F47-66EF2EB9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139B2-89E9-4AD5-9126-58920CDB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Validação, transações e proteção contra alterações concorrentes.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0CB4E-7B16-421C-87B1-D91C59A7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48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6E27F-4BC8-44C3-AA4E-3819119F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F318A-6FEA-4F70-918D-82CD3EB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Ficheiros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20772-FC2E-49EF-8A58-D05BB378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Downloads privados, nomes protegidos e validação de conteúdo.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5696D-1E47-4CCE-ACA4-B2752190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4864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085C9-7F1D-49DA-A26B-205EFCF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95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795B1-6963-412B-AD57-4241E9FE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489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076A1-A547-45C4-9118-83B91E7C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9100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Histórico de transições, eventos e correções rastreáveis.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9D092-A114-41E0-808B-750D0ED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67350"/>
            <a:ext cx="8610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C4270-DD3D-495C-B0EB-A6CF2B2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Operações críticas deixam evidência e respeitam a autorização do utilizador.</a:t>
            </a:r>
          </a:p>
        </p:txBody>
      </p:sp>
    </p:spTree>
    <p:extLst>
      <p:ext uri="{BB962C8B-B14F-4D97-AF65-F5344CB8AC3E}">
        <p14:creationId xmlns:p14="http://schemas.microsoft.com/office/powerpoint/2010/main" val="11068024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24321-15BF-45DE-82B1-3F4774B8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DEMONSTRAÇÃO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37C32-1DBE-4EE2-84E6-14636C4A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Três cenários para demonstrar 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B1E08-F150-427A-AA1E-22BD9117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48393-8921-4877-AB06-6BFCA76E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8A941-32DF-40BB-AE9B-3EE8FAD1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71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16E54-B101-430C-82C5-33B7948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6D696-C49F-4F14-A4CE-E4F84CD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9829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580B0-60B9-44C7-8553-B4D4AEA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478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Candidatura favorável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79D6D-EBAD-4EEA-9242-BFA634F7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Criar → completar checklist → analisar → emitir parecer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F1E8F-92C8-4C6B-9DF5-BE007877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971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166B0-EB31-4E15-B331-10D30AD4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58DA7-4BB4-4D21-8213-3A4DC441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9829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4DD5A-AABF-4735-883E-BE042DA6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385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Correção documental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9D2A7-14BA-4AA4-A342-485EB1C6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Detetar falta → pedir elementos → carregar nova versão → validar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FF653-19FC-4885-9C1F-34A57696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9715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F0A4B-C904-4C01-BB50-742CC585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FFA60-79B2-489F-9FD8-6994AFBA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67250"/>
            <a:ext cx="9829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0658E-BACA-4068-96D4-85C89E5A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291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Conclusão e pagamento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DB610-06DC-4372-B04B-4F24729C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7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Receber termo → confirmar formação → registar pagamento → encerrar</a:t>
            </a:r>
          </a:p>
        </p:txBody>
      </p:sp>
    </p:spTree>
    <p:extLst>
      <p:ext uri="{BB962C8B-B14F-4D97-AF65-F5344CB8AC3E}">
        <p14:creationId xmlns:p14="http://schemas.microsoft.com/office/powerpoint/2010/main" val="11712964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0B550-9B73-4AB0-A641-BB60D368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TESTES 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683D6-9EE0-4FC6-A452-D6E19DB5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Validação técnica concluída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9B4EC-0945-4C35-99B9-432057E7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51B4B-DA99-4C86-9DD9-C6C4CA7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0F18C-15F8-4BF9-A05B-CF937235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47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32F01-7E7A-4647-988C-1190EFF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DE6E8-7163-43C2-A790-16ACDA99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testes Django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EBA0-EAF1-4E9E-986C-E01E642E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247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FDDA6-9E33-4BB5-9F82-EDBD17A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84,4%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B0966-B8BE-47D9-A2FC-793C7DF9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38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cobertura combinada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20AF7-D8DB-46E1-AFFD-D18A41B6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47850"/>
            <a:ext cx="247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48ACF-2866-4921-A543-0D57C7AA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2929F-1D39-45AB-AF8E-8C14416B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384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testes de backup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5332A-A212-40F5-A261-F63C3590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9718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2A706-806C-4C1A-81A9-C308308D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1014D-50CA-4681-B5F0-104B56E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384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transições verificadas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265D0-29F7-4CE6-A9D6-152260E1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8DF07-C1EF-40BE-8EEE-5A377BC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763E8-BCB2-4E83-A7A7-3E923CC4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5FB"/>
                </a:solidFill>
                <a:latin typeface="Arial"/>
                <a:ea typeface="Arial"/>
                <a:cs typeface="Arial"/>
              </a:rPr>
              <a:t>✓ PostgreSQL 17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5FB"/>
                </a:solidFill>
                <a:latin typeface="Arial"/>
                <a:ea typeface="Arial"/>
                <a:cs typeface="Arial"/>
              </a:rPr>
              <a:t>✓ instalação limpa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1F6BA-7515-4282-A9D5-67D848A4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EAF8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2"/>
                </a:solidFill>
                <a:latin typeface="Arial"/>
                <a:ea typeface="Arial"/>
                <a:cs typeface="Arial"/>
              </a:rPr>
              <a:t>✓ backup e restauro cifrados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EAF8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2"/>
                </a:solidFill>
                <a:latin typeface="Arial"/>
                <a:ea typeface="Arial"/>
                <a:cs typeface="Arial"/>
              </a:rPr>
              <a:t>✓ construção da imagem Docker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96D5D-383E-417B-B416-1F7F0DB2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24325"/>
            <a:ext cx="2057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96636-E616-40BB-B4F0-67B166D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767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9987C-170A-40C6-A7F5-E37641B5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819775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Métricas reais — não são dados simulados.</a:t>
            </a:r>
          </a:p>
        </p:txBody>
      </p:sp>
    </p:spTree>
    <p:extLst>
      <p:ext uri="{BB962C8B-B14F-4D97-AF65-F5344CB8AC3E}">
        <p14:creationId xmlns:p14="http://schemas.microsoft.com/office/powerpoint/2010/main" val="2110992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DDD0B0-09B2-45FA-BF99-6FBE800B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GUIÃO DE 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8E65E-4DA4-42E0-8AC2-481B5D10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Percurso recomendado para uma demo de 10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5519F-D6E4-4B7A-9603-4C01C440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A487-D937-450D-89EF-EAA8B64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4B35B-5936-463C-A7ED-72767DAD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933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9083F-7C98-4B4B-B4C3-6A75E91B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813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E0126-8391-45ED-9F90-F288C2A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A26E9-DD0A-43C7-B37A-0FE054BC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01EC1-89E2-4843-8286-8B6B188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5DE11-247D-40C4-8646-9E9C7382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C0DEC-2028-4ACA-91EA-CD0AAF40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mostrar perfis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33517-0D58-46DC-9868-04DF673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813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38630-DA9D-44DF-8E12-1B6CC96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14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06C71-7E66-46C9-AFF7-780AEACF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B54D6-8863-4016-A9AA-4D8D847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632DD-B0E0-4446-838F-C176A721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733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Candidatura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134CF-74DE-4382-8A6C-5C32A9B5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719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dados e estado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958EC-4B10-43C4-92DD-32D665E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813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D9223-833A-4616-A3CF-0DA65DE2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14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C2C4F-E8B5-4590-9D0B-0D8AFD56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01716-3A18-45AD-A218-D1F49C1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9F87C-90A1-4B39-AC2F-A94A47E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Documentos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DF99D-8786-4D86-AA54-87A8E7E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checklist e versões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8E252-1398-489A-9A2D-CD639F01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813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ACA4E-AE2E-4531-A9E2-AADE77C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14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32A48-6531-4D94-8186-805821E6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AAE17-7680-4365-BF4F-0E8EB61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26762C-2B2A-4EC2-9420-6D32112F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06FF2A-0ED4-4D57-AC22-F4A1407E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719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parecer e histórico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E03144-9B5F-43D6-AB97-8AC8CC2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AD4F2-FA6B-4957-85D2-95306305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146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E14FA-0A60-4C22-8606-3AC9E7F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478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3EF4F8-F8BA-4525-BA92-FBD553EB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87FB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BE"/>
                </a:solidFill>
                <a:latin typeface="Arial"/>
                <a:ea typeface="Arial"/>
                <a:cs typeface="Arial"/>
              </a:rPr>
              <a:t>1 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84802C-F206-4979-AC55-B1018926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Fecho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2526A1-2898-4A39-9E79-82D9AA9A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719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avisos e métricas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FA1214-1E82-452F-953F-573216D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DDA62F-99A7-493F-BEEC-D69BD193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3877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Dica: usar dados de demonstração e terminar com a página de validação.</a:t>
            </a:r>
          </a:p>
        </p:txBody>
      </p:sp>
    </p:spTree>
    <p:extLst>
      <p:ext uri="{BB962C8B-B14F-4D97-AF65-F5344CB8AC3E}">
        <p14:creationId xmlns:p14="http://schemas.microsoft.com/office/powerpoint/2010/main" val="975300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0B52B-CA2E-49B5-A49A-3AE5EAA0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333BB-1D69-4C9E-8CA4-4AFCF85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B9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B978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77496-77F0-42A0-BED3-23E676B8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334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FormaFlow passou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ideia a sistema funcional.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35B1-91CE-408B-8AA6-8D5382C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6838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B"/>
                </a:solidFill>
                <a:latin typeface="Arial"/>
                <a:ea typeface="Arial"/>
                <a:cs typeface="Arial"/>
              </a:rPr>
              <a:t>Centraliza o processo, reduz esquecimentos e deixa um histórico verificável — com uma base técnica testada e documentada.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A57B5-C0F4-41A4-9F5B-88C662F5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28700"/>
            <a:ext cx="3352800" cy="38671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11504-D701-42C8-BD02-903C154E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287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C167C-644C-4DE7-B9E5-8E9798F4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25908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01  Alojamento público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02  Integrações externas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03  Testes com utilizadores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04  Monitorização contínua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898FF-D5C1-4A9E-BAC0-89DD62F9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B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8C916-96B5-4BF1-AB8A-9F9E6DBB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Obrigado. Perguntas?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C457E-050F-43DF-AA79-FA375A94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5F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5247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2026-09-03T20:21:23.1950000Z</dcterms:created>
  <dcterms:modified xsi:type="dcterms:W3CDTF">2026-09-03T20:21:23.1950000Z</dcterms:modified>
</coreProperties>
</file>